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38BDF8"/>
                </a:solidFill>
              </a:defRPr>
            </a:pPr>
            <a:r>
              <a:t>THE ARCHITECTURE OF AUTONOMOUS INTELLIGENCE</a:t>
            </a:r>
          </a:p>
          <a:p>
            <a:pPr>
              <a:spcAft>
                <a:spcPts val="1600"/>
              </a:spcAft>
              <a:defRPr sz="3600" b="1">
                <a:solidFill>
                  <a:srgbClr val="F8FAFC"/>
                </a:solidFill>
              </a:defRPr>
            </a:pPr>
            <a:r>
              <a:t>AI Agents &amp; Model Context Protocol (MCP)</a:t>
            </a:r>
          </a:p>
          <a:p>
            <a:pPr>
              <a:defRPr sz="1800">
                <a:solidFill>
                  <a:srgbClr val="94A3B8"/>
                </a:solidFill>
              </a:defRPr>
            </a:pPr>
            <a:r>
              <a:t>How modern AI evolves from passive chat models into connected, goal-driven autonomous systems.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AI &amp;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The Paradigm Shift: From Chatbots to Autonomous Agents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Arial"/>
              </a:defRPr>
            </a:pPr>
            <a:r>
              <a:t>1. Static Chatbots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User asks a question -&gt; Model responds with text.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Isolated context with no real-world awareness.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Cannot take actions or execute code.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Requires manual human execution.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C084FC"/>
                </a:solidFill>
                <a:latin typeface="Arial"/>
              </a:defRPr>
            </a:pPr>
            <a:r>
              <a:t>2. Copilots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Embedded inside software tools (e.g. IDEs, CRM).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Provides real-time suggestions and guidance.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Requires continuous user prompting.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Assists but does not act independently.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4D399"/>
                </a:solidFill>
                <a:latin typeface="Arial"/>
              </a:defRPr>
            </a:pPr>
            <a:r>
              <a:t>3. Autonomous Agents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Given a high-level goal, breaks it into steps.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Uses tools to inspect files, databases, and APIs.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Observes outcomes, self-corrects, and loops.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Delivers end-to-end automated results.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AI &amp;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Inside an AI Agent: The 4 Core Pillars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Arial"/>
              </a:defRPr>
            </a:pPr>
            <a:r>
              <a:t>🧠 Brain (LLM)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Core reasoning engine.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Decomposes goals into sequential steps.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Evaluates intermediate outputs.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C084FC"/>
                </a:solidFill>
                <a:latin typeface="Arial"/>
              </a:defRPr>
            </a:pPr>
            <a:r>
              <a:t>👁️ Perception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Context ingestion.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System prompt, environment state, user instructions.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Observes execution responses.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4D399"/>
                </a:solidFill>
                <a:latin typeface="Arial"/>
              </a:defRPr>
            </a:pPr>
            <a:r>
              <a:t>💾 Memory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Short-term: Conversational turn buffer.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Long-term: Vector DB / JSON log history.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Recalls past learnings &amp; context.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Arial"/>
              </a:defRPr>
            </a:pPr>
            <a:r>
              <a:t>🛠️ Tools &amp; Action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APIs, File IO, Terminal, Web Browsers.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Enables the agent to affect real systems.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Connected standardly via MCP.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AI &amp;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The Problem: The 'N x M' Integration Bottleneck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C084FC"/>
                </a:solidFill>
                <a:latin typeface="Arial"/>
              </a:defRPr>
            </a:pPr>
            <a:r>
              <a:t>Traditional Custom Integration Trap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Every AI model vendor built custom connectors for every tool.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Connecting 5 LLM clients to 10 enterprise tools required 50 separate integration efforts.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Fragmented standards led to custom fragile code for every API.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Maintenance nightmare when API endpoints or schemas change.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Arial"/>
              </a:defRPr>
            </a:pPr>
            <a:r>
              <a:t>Key Consequences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High Development Overhead: Teams re-inventing basic tool connectors.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Security Risks: Custom authentication mechanisms for each integration.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Vendor Lock-in: Hard to swap out AI models or tools.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Slow Adoption: Building agents took weeks of integration code.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AI &amp;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Enter MCP: The Universal Standard for AI Connectivity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4D399"/>
                </a:solidFill>
                <a:latin typeface="Arial"/>
              </a:defRPr>
            </a:pPr>
            <a:r>
              <a:t>🔌 What is Model Context Protocol (MCP)?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MCP is an open standard introduced by Anthropic to unify how AI applications connect to external data sources, tools, and workflows.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Think of MCP as the 'USB-C Cable for Artificial Intelligence'.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C084FC"/>
                </a:solidFill>
                <a:latin typeface="Arial"/>
              </a:defRPr>
            </a:pPr>
            <a:r>
              <a:t>Before MCP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N x M tangled custom integrations.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Inconsistent tool declarations &amp; prompt engineering.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Brittle, non-reusable code snippets.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12064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11480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Arial"/>
              </a:defRPr>
            </a:pPr>
            <a:r>
              <a:t>With MCP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1 Standard Protocol for all tools.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Universal compatibility across AI clients.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Plug-and-play architecture for enterprise systems.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AI &amp;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MCP Architecture: How the Protocol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Arial"/>
              </a:defRPr>
            </a:pPr>
            <a:r>
              <a:t>1. MCP Host / Client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The AI application or agent environment (e.g., Claude Desktop, IDEs, Custom Agent Runtimes).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Manages the conversation state and handles user interaction.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Initiates requests to MCP servers.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C084FC"/>
                </a:solidFill>
                <a:latin typeface="Arial"/>
              </a:defRPr>
            </a:pPr>
            <a:r>
              <a:t>2. The MCP Protocol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Standardized JSON-RPC 2.0 messages.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Exposes 3 Core Primitives: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 • Prompts: Pre-defined templates.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 • Resources: Read-only data/files.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 • Tools: Executable functions.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4D399"/>
                </a:solidFill>
                <a:latin typeface="Arial"/>
              </a:defRPr>
            </a:pPr>
            <a:r>
              <a:t>3. MCP Servers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Lightweight services wrapping specific tools.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Examples: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 • Database Server (Postgres/SQL)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 • GitHub / Jira Server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 • Web Browser Automation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 • Local Filesystem Server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AI &amp;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Lifecycle: Agent + MCP in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Arial"/>
              </a:defRPr>
            </a:pPr>
            <a:r>
              <a:t>The Step-by-Step Execution Loop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Step 1: Goal Assignment — User gives high-level goal to the AI Agent.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Step 2: Server Discovery — Agent connects to available MCP Servers and retrieves tool definitions.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Step 3: Reasoning &amp; Planning — Agent LLM decides which tool to call and formulates structured arguments.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Step 4: MCP Execution — Agent sends a JSON-RPC request to the MCP Server; Server executes tool.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Step 5: Context Ingestion — Result (data/output) returns to the Agent via MCP.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Step 6: Reflection &amp; Iteration — Agent evaluates outcome, determines if goal is complete or takes next step.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AI &amp;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Real-World Enterprise Applications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Arial"/>
              </a:defRPr>
            </a:pPr>
            <a:r>
              <a:t>📊 Data &amp; Analytics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Agents query databases via SQL MCP Servers, run statistical analysis, and generate interactive visual reports automatically.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C084FC"/>
                </a:solidFill>
                <a:latin typeface="Arial"/>
              </a:defRPr>
            </a:pPr>
            <a:r>
              <a:t>💻 DevOps &amp; Software Engineering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Agents manage Git branches, trigger CI/CD pipelines, read server logs, and fix bug tickets autonomously.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4D399"/>
                </a:solidFill>
                <a:latin typeface="Arial"/>
              </a:defRPr>
            </a:pPr>
            <a:r>
              <a:t>📋 Operations &amp; Task Management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Syncing project tasks (Plane, Jira, Trello) with daily developer progress and customer support tickets.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114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Arial"/>
              </a:defRPr>
            </a:pPr>
            <a:r>
              <a:t>🔎 Enterprise Search &amp; Knowledge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Unifying Notion, Slack, Drive, and internal documents under a single Agent intelligence layer.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AI &amp;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Governance &amp; Security: Keeping Agents Safe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Arial"/>
              </a:defRPr>
            </a:pPr>
            <a:r>
              <a:t>1. Explicit Permissions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Granular scopes for MCP tools.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Read-only vs Read-Write isolation.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Prevents unauthorized data access.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C084FC"/>
                </a:solidFill>
                <a:latin typeface="Arial"/>
              </a:defRPr>
            </a:pPr>
            <a:r>
              <a:t>2. Human-in-the-Loop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Critical operations require human approval.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Example: Production deployment, database drops, email sending.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4D399"/>
                </a:solidFill>
                <a:latin typeface="Arial"/>
              </a:defRPr>
            </a:pPr>
            <a:r>
              <a:t>3. Audit &amp; Observability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Every MCP tool call logged with inputs and outputs.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Complete step-by-step agent trace history for auditing.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AI &amp;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Key Takeaways: The Future of AI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4D399"/>
                </a:solidFill>
                <a:latin typeface="Arial"/>
              </a:defRPr>
            </a:pPr>
            <a:r>
              <a:t>Why Agents + MCP is the New Standard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1. Modern AI is moving from text generation to autonomous action execution.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2. MCP removes integration friction by providing a universal protocol ('USB-C for AI').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3. Modular architecture means tools can be built once and reused across any AI agent.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4. Enterprise-ready governance enables safe, scalable AI deployment across organizations.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5. Adopting Agents + MCP positions teams to build future-proof, scalable AI workflows today.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